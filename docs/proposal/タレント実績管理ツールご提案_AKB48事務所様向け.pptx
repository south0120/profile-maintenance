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463040"/>
            <a:ext cx="5852160" cy="5852160"/>
          </a:xfrm>
          <a:prstGeom prst="ellipse">
            <a:avLst/>
          </a:prstGeom>
          <a:solidFill>
            <a:srgbClr val="FDECF3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566160"/>
            <a:ext cx="3108960" cy="3108960"/>
          </a:xfrm>
          <a:prstGeom prst="ellipse">
            <a:avLst/>
          </a:prstGeom>
          <a:solidFill>
            <a:srgbClr val="F7C4D9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937760"/>
            <a:ext cx="3108960" cy="3108960"/>
          </a:xfrm>
          <a:prstGeom prst="ellipse">
            <a:avLst/>
          </a:prstGeom>
          <a:solidFill>
            <a:srgbClr val="FDECF3"/>
          </a:solidFill>
          <a:ln/>
        </p:spPr>
      </p:sp>
      <p:sp>
        <p:nvSpPr>
          <p:cNvPr id="5" name="Shape 3"/>
          <p:cNvSpPr/>
          <p:nvPr/>
        </p:nvSpPr>
        <p:spPr>
          <a:xfrm>
            <a:off x="9464040" y="777240"/>
            <a:ext cx="1417320" cy="141732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1143000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AKB48 運営事務所様 向けご提案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8288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0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実績は、貯めるだけ。
</a:t>
            </a:r>
            <a:pPr indent="0" marL="0">
              <a:lnSpc>
                <a:spcPts val="5800"/>
              </a:lnSpc>
              <a:buNone/>
            </a:pPr>
            <a:r>
              <a:rPr lang="en-US" sz="40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プロフィールは、</a:t>
            </a:r>
            <a:pPr indent="0" marL="0">
              <a:lnSpc>
                <a:spcPts val="5800"/>
              </a:lnSpc>
              <a:buNone/>
            </a:pPr>
            <a:r>
              <a:rPr lang="en-US" sz="4000" b="1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選んで出すだけ。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40080" y="3886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タレント実績管理システム 兼 プロフィール作成ツール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44348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メンバーの出演情報をAIが集めてデータベース化。営業先に合わせた宣材プロフィールを、数分でお届けします。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6126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2026年7月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ISSUE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プロフィール更新、こんなお悩みはありませんか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383280" cy="4572000"/>
          </a:xfrm>
          <a:prstGeom prst="roundRect">
            <a:avLst>
              <a:gd name="adj" fmla="val 3784"/>
            </a:avLst>
          </a:prstGeom>
          <a:solidFill>
            <a:srgbClr val="FDECF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3A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手作業のままだと…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2時間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プロフィール1人分の作成にかかる時間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×80名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68680" y="4846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メンバー全員分、公演・卒業・選抜のたびに更新が発生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1600200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E8B7CC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1874520"/>
            <a:ext cx="566928" cy="566928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631" y="2027591"/>
            <a:ext cx="260787" cy="260787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212080" y="19110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人数が多い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98848" y="2606040"/>
            <a:ext cx="3118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メンバーが多く、WordやPowerPointでの1人ずつの手作業では更新が追いつかない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38160" y="1600200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E8B7CC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412480" y="1874520"/>
            <a:ext cx="566928" cy="566928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551" y="2027591"/>
            <a:ext cx="260787" cy="26078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144000" y="191109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情報が増え続ける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430768" y="2606040"/>
            <a:ext cx="3118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公演・テレビ・配信・雑誌…日々増える出演情報の転記が担当者の負担に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206240" y="4023360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E8B7CC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480560" y="4297680"/>
            <a:ext cx="566928" cy="566928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631" y="4450751"/>
            <a:ext cx="260787" cy="26078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12080" y="433425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体裁がくずれる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4498848" y="5029200"/>
            <a:ext cx="3118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写真差し替えや経歴追記のたびにレイアウトが崩れ、直すのにまた時間がかかる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138160" y="4023360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E8B7CC">
                <a:alpha val="3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412480" y="4297680"/>
            <a:ext cx="566928" cy="566928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5551" y="4450751"/>
            <a:ext cx="260787" cy="26078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44000" y="433425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どれが最新か分からない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430768" y="5029200"/>
            <a:ext cx="31181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ファイルが人とPCに分散し、古いプロフィールを送ってしまうリスクも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D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タレント実績管理・プロフィール作成ツール ご提案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D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「貯める・選ぶ・出す」を、ひとつの流れに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520440" cy="3749040"/>
          </a:xfrm>
          <a:prstGeom prst="roundRect">
            <a:avLst>
              <a:gd name="adj" fmla="val 3636"/>
            </a:avLst>
          </a:prstGeom>
          <a:solidFill>
            <a:srgbClr val="FBF7F9"/>
          </a:solidFill>
          <a:ln/>
        </p:spPr>
      </p:sp>
      <p:sp>
        <p:nvSpPr>
          <p:cNvPr id="5" name="Shape 3"/>
          <p:cNvSpPr/>
          <p:nvPr/>
        </p:nvSpPr>
        <p:spPr>
          <a:xfrm>
            <a:off x="1760220" y="2240280"/>
            <a:ext cx="1005840" cy="100584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1797" y="2511857"/>
            <a:ext cx="462686" cy="462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290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93A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  貯める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749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実績データベース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50392" y="4526280"/>
            <a:ext cx="2825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出演情報は削除せず全件ストック。Webのお知らせやSNSからAIが自動で収集して登録候補を提案します。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 rot="5400000">
            <a:off x="4059936" y="3575304"/>
            <a:ext cx="237744" cy="274320"/>
          </a:xfrm>
          <a:prstGeom prst="triangle">
            <a:avLst/>
          </a:prstGeom>
          <a:solidFill>
            <a:srgbClr val="E8558B"/>
          </a:solidFill>
          <a:ln/>
        </p:spPr>
      </p:sp>
      <p:sp>
        <p:nvSpPr>
          <p:cNvPr id="11" name="Shape 8"/>
          <p:cNvSpPr/>
          <p:nvPr/>
        </p:nvSpPr>
        <p:spPr>
          <a:xfrm>
            <a:off x="4343400" y="1828800"/>
            <a:ext cx="3520440" cy="3749040"/>
          </a:xfrm>
          <a:prstGeom prst="roundRect">
            <a:avLst>
              <a:gd name="adj" fmla="val 3636"/>
            </a:avLst>
          </a:prstGeom>
          <a:solidFill>
            <a:srgbClr val="FDECF3"/>
          </a:solidFill>
          <a:ln/>
        </p:spPr>
      </p:sp>
      <p:sp>
        <p:nvSpPr>
          <p:cNvPr id="12" name="Shape 9"/>
          <p:cNvSpPr/>
          <p:nvPr/>
        </p:nvSpPr>
        <p:spPr>
          <a:xfrm>
            <a:off x="5600700" y="2240280"/>
            <a:ext cx="1005840" cy="100584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277" y="2511857"/>
            <a:ext cx="462686" cy="4626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34290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93A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  選ぶ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0" y="3749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営業先に合わせてAIが選抜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90872" y="4526280"/>
            <a:ext cx="2825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「〇〇社向け」と話しかけるだけで、見せる実績・並び順・強調をAIが提案。競合案件は自動で非表示に。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 rot="5400000">
            <a:off x="7900416" y="3575304"/>
            <a:ext cx="237744" cy="274320"/>
          </a:xfrm>
          <a:prstGeom prst="triangle">
            <a:avLst/>
          </a:prstGeom>
          <a:solidFill>
            <a:srgbClr val="E8558B"/>
          </a:solidFill>
          <a:ln/>
        </p:spPr>
      </p:sp>
      <p:sp>
        <p:nvSpPr>
          <p:cNvPr id="18" name="Shape 14"/>
          <p:cNvSpPr/>
          <p:nvPr/>
        </p:nvSpPr>
        <p:spPr>
          <a:xfrm>
            <a:off x="8183880" y="1828800"/>
            <a:ext cx="3520440" cy="3749040"/>
          </a:xfrm>
          <a:prstGeom prst="roundRect">
            <a:avLst>
              <a:gd name="adj" fmla="val 3636"/>
            </a:avLst>
          </a:prstGeom>
          <a:solidFill>
            <a:srgbClr val="FBF7F9"/>
          </a:solidFill>
          <a:ln/>
        </p:spPr>
      </p:sp>
      <p:sp>
        <p:nvSpPr>
          <p:cNvPr id="19" name="Shape 15"/>
          <p:cNvSpPr/>
          <p:nvPr/>
        </p:nvSpPr>
        <p:spPr>
          <a:xfrm>
            <a:off x="9441180" y="2240280"/>
            <a:ext cx="1005840" cy="100584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2757" y="2511857"/>
            <a:ext cx="462686" cy="46268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58200" y="34290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93A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  出す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412480" y="3749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整ったプロフィールを出力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531352" y="4526280"/>
            <a:ext cx="2825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グループ共通のデザインでA4宣材をPDF出力。写真の差し替えもレイアウト崩れなし。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3A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一度貯めた実績は、オーディション用・メディア用・イベント営業用…何度でも使い回せます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D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タレント実績管理・プロフィール作成ツール ご提案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D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FEATURE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実績データベース ─ 出演歴を「資産」として貯める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57200" cy="45720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" y="1906524"/>
            <a:ext cx="21031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6479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削除しない、全部貯める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43000" y="21945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公演・TV・CM・配信・雑誌…すべての実績をストック。プロフィールに載せるかどうかは「表示スイッチ」で切り替えるだけ。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200400"/>
            <a:ext cx="457200" cy="45720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" y="332384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318211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選抜・卒業・移籍にも強い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43000" y="3611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チームや活動状況が変わっても、実績はメンバーに紐づいて残り続けます。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4617720"/>
            <a:ext cx="457200" cy="45720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4741164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45994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過去の実績も一括取り込み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143000" y="50292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既存のWord/PowerPointプロフィールを貼り付けると、AIが経歴データに自動変換。移行の手間を最小化。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858000" y="1737360"/>
            <a:ext cx="4800600" cy="4297680"/>
          </a:xfrm>
          <a:prstGeom prst="roundRect">
            <a:avLst>
              <a:gd name="adj" fmla="val 2553"/>
            </a:avLst>
          </a:prstGeom>
          <a:solidFill>
            <a:srgbClr val="FBF7F9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13232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3A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実績ストック（例）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086600" y="2331720"/>
            <a:ext cx="43434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F0E1E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223760" y="2450592"/>
            <a:ext cx="566928" cy="256032"/>
          </a:xfrm>
          <a:prstGeom prst="roundRect">
            <a:avLst>
              <a:gd name="adj" fmla="val 35714"/>
            </a:avLst>
          </a:prstGeom>
          <a:solidFill>
            <a:srgbClr val="E8558B"/>
          </a:solidFill>
          <a:ln/>
        </p:spPr>
      </p:sp>
      <p:sp>
        <p:nvSpPr>
          <p:cNvPr id="20" name="Text 15"/>
          <p:cNvSpPr/>
          <p:nvPr/>
        </p:nvSpPr>
        <p:spPr>
          <a:xfrm>
            <a:off x="7223760" y="243230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公演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7909560" y="24231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3A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 春公演『◯◯◯』 千秋楽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0634472" y="242316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086600" y="2916936"/>
            <a:ext cx="43434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F0E1E9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223760" y="3035808"/>
            <a:ext cx="566928" cy="256032"/>
          </a:xfrm>
          <a:prstGeom prst="roundRect">
            <a:avLst>
              <a:gd name="adj" fmla="val 35714"/>
            </a:avLst>
          </a:prstGeom>
          <a:solidFill>
            <a:srgbClr val="E8558B"/>
          </a:solidFill>
          <a:ln/>
        </p:spPr>
      </p:sp>
      <p:sp>
        <p:nvSpPr>
          <p:cNvPr id="25" name="Text 20"/>
          <p:cNvSpPr/>
          <p:nvPr/>
        </p:nvSpPr>
        <p:spPr>
          <a:xfrm>
            <a:off x="7223760" y="301752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TV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7909560" y="300837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 音楽番組『◯◯◯』出演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0634472" y="300837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7086600" y="3502152"/>
            <a:ext cx="43434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F0E1E9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223760" y="3621024"/>
            <a:ext cx="566928" cy="256032"/>
          </a:xfrm>
          <a:prstGeom prst="roundRect">
            <a:avLst>
              <a:gd name="adj" fmla="val 35714"/>
            </a:avLst>
          </a:prstGeom>
          <a:solidFill>
            <a:srgbClr val="E8558B"/>
          </a:solidFill>
          <a:ln/>
        </p:spPr>
      </p:sp>
      <p:sp>
        <p:nvSpPr>
          <p:cNvPr id="30" name="Text 25"/>
          <p:cNvSpPr/>
          <p:nvPr/>
        </p:nvSpPr>
        <p:spPr>
          <a:xfrm>
            <a:off x="7223760" y="360273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CM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7909560" y="35935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 飲料メーカーA社 CM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10634472" y="359359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7086600" y="4087368"/>
            <a:ext cx="43434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F0E1E9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223760" y="4206240"/>
            <a:ext cx="566928" cy="256032"/>
          </a:xfrm>
          <a:prstGeom prst="roundRect">
            <a:avLst>
              <a:gd name="adj" fmla="val 35714"/>
            </a:avLst>
          </a:prstGeom>
          <a:solidFill>
            <a:srgbClr val="E8558B"/>
          </a:solidFill>
          <a:ln/>
        </p:spPr>
      </p:sp>
      <p:sp>
        <p:nvSpPr>
          <p:cNvPr id="35" name="Text 30"/>
          <p:cNvSpPr/>
          <p:nvPr/>
        </p:nvSpPr>
        <p:spPr>
          <a:xfrm>
            <a:off x="7223760" y="418795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配信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7909560" y="417880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 冠配信番組 レギュラー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10634472" y="417880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7086600" y="4672584"/>
            <a:ext cx="43434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F0E1E9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7223760" y="4791456"/>
            <a:ext cx="566928" cy="256032"/>
          </a:xfrm>
          <a:prstGeom prst="roundRect">
            <a:avLst>
              <a:gd name="adj" fmla="val 35714"/>
            </a:avLst>
          </a:prstGeom>
          <a:solidFill>
            <a:srgbClr val="D8DBE0"/>
          </a:solidFill>
          <a:ln/>
        </p:spPr>
      </p:sp>
      <p:sp>
        <p:nvSpPr>
          <p:cNvPr id="40" name="Text 35"/>
          <p:cNvSpPr/>
          <p:nvPr/>
        </p:nvSpPr>
        <p:spPr>
          <a:xfrm>
            <a:off x="7223760" y="477316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雑誌</a:t>
            </a:r>
            <a:endParaRPr lang="en-US" sz="950" dirty="0"/>
          </a:p>
        </p:txBody>
      </p:sp>
      <p:sp>
        <p:nvSpPr>
          <p:cNvPr id="41" name="Text 36"/>
          <p:cNvSpPr/>
          <p:nvPr/>
        </p:nvSpPr>
        <p:spPr>
          <a:xfrm>
            <a:off x="7909560" y="476402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A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 ファッション誌 表紙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10634472" y="476402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6AA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非表示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7086600" y="5257800"/>
            <a:ext cx="43434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F0E1E9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7223760" y="5376672"/>
            <a:ext cx="566928" cy="256032"/>
          </a:xfrm>
          <a:prstGeom prst="roundRect">
            <a:avLst>
              <a:gd name="adj" fmla="val 35714"/>
            </a:avLst>
          </a:prstGeom>
          <a:solidFill>
            <a:srgbClr val="D8DBE0"/>
          </a:solidFill>
          <a:ln/>
        </p:spPr>
      </p:sp>
      <p:sp>
        <p:nvSpPr>
          <p:cNvPr id="45" name="Text 40"/>
          <p:cNvSpPr/>
          <p:nvPr/>
        </p:nvSpPr>
        <p:spPr>
          <a:xfrm>
            <a:off x="7223760" y="53583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TV</a:t>
            </a:r>
            <a:endParaRPr lang="en-US" sz="950" dirty="0"/>
          </a:p>
        </p:txBody>
      </p:sp>
      <p:sp>
        <p:nvSpPr>
          <p:cNvPr id="46" name="Text 41"/>
          <p:cNvSpPr/>
          <p:nvPr/>
        </p:nvSpPr>
        <p:spPr>
          <a:xfrm>
            <a:off x="7909560" y="53492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6AA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 バラエティ『◯◯◯』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10634472" y="534924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6AA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非表示</a:t>
            </a:r>
            <a:endParaRPr lang="en-US" sz="1000" dirty="0"/>
          </a:p>
        </p:txBody>
      </p:sp>
      <p:sp>
        <p:nvSpPr>
          <p:cNvPr id="48" name="Text 43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D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タレント実績管理・プロフィール作成ツール ご提案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D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FEATURE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出演情報はAIが集めてくる ─ 転記作業をなくす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3A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情報源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3200400" cy="749808"/>
          </a:xfrm>
          <a:prstGeom prst="roundRect">
            <a:avLst>
              <a:gd name="adj" fmla="val 12195"/>
            </a:avLst>
          </a:prstGeom>
          <a:solidFill>
            <a:srgbClr val="FDECF3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404872"/>
            <a:ext cx="512064" cy="512064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057" y="2543129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4871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公式サイトのお知らせ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200400"/>
            <a:ext cx="3200400" cy="749808"/>
          </a:xfrm>
          <a:prstGeom prst="roundRect">
            <a:avLst>
              <a:gd name="adj" fmla="val 12195"/>
            </a:avLst>
          </a:prstGeom>
          <a:solidFill>
            <a:srgbClr val="FDECF3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3319272"/>
            <a:ext cx="512064" cy="512064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057" y="3457529"/>
            <a:ext cx="235549" cy="23554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4015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X（SNS）の発信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02920" y="4114800"/>
            <a:ext cx="3200400" cy="749808"/>
          </a:xfrm>
          <a:prstGeom prst="roundRect">
            <a:avLst>
              <a:gd name="adj" fmla="val 12195"/>
            </a:avLst>
          </a:prstGeom>
          <a:solidFill>
            <a:srgbClr val="FDECF3"/>
          </a:solidFill>
          <a:ln/>
        </p:spPr>
      </p:sp>
      <p:sp>
        <p:nvSpPr>
          <p:cNvPr id="14" name="Shape 10"/>
          <p:cNvSpPr/>
          <p:nvPr/>
        </p:nvSpPr>
        <p:spPr>
          <a:xfrm>
            <a:off x="685800" y="4233672"/>
            <a:ext cx="512064" cy="512064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057" y="4371929"/>
            <a:ext cx="235549" cy="2355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4315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Web検索・ニュース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 rot="5400000">
            <a:off x="3913632" y="3291840"/>
            <a:ext cx="256032" cy="292608"/>
          </a:xfrm>
          <a:prstGeom prst="triangle">
            <a:avLst/>
          </a:prstGeom>
          <a:solidFill>
            <a:srgbClr val="E8558B"/>
          </a:solidFill>
          <a:ln/>
        </p:spPr>
      </p:sp>
      <p:sp>
        <p:nvSpPr>
          <p:cNvPr id="18" name="Text 13"/>
          <p:cNvSpPr/>
          <p:nvPr/>
        </p:nvSpPr>
        <p:spPr>
          <a:xfrm>
            <a:off x="438912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3A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AIが候補に整理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389120" y="228600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FBF7F9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532120" y="2560320"/>
            <a:ext cx="914400" cy="91440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280720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572000" y="3611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新しい出演情報だけを抽出し、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情報源リンクと確からしさ付きで</a:t>
            </a:r>
            <a:endParaRPr lang="en-US" sz="12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候補リストに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0" y="4800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同姓同名・重複・噂レベルの情報は自動で除外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 rot="5400000">
            <a:off x="7882128" y="3291840"/>
            <a:ext cx="256032" cy="292608"/>
          </a:xfrm>
          <a:prstGeom prst="triangle">
            <a:avLst/>
          </a:prstGeom>
          <a:solidFill>
            <a:srgbClr val="E8558B"/>
          </a:solidFill>
          <a:ln/>
        </p:spPr>
      </p:sp>
      <p:sp>
        <p:nvSpPr>
          <p:cNvPr id="25" name="Text 19"/>
          <p:cNvSpPr/>
          <p:nvPr/>
        </p:nvSpPr>
        <p:spPr>
          <a:xfrm>
            <a:off x="8366760" y="1554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3A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人が確認して登録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8366760" y="228600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256032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098280" y="241401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チェックを入れて「追加」するだけ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366760" y="333756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72" y="361188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98280" y="346557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確認前に自動掲載されることは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ありません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366760" y="438912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663440"/>
            <a:ext cx="365760" cy="36576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9098280" y="451713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見送った候補もストックに残せる</a:t>
            </a:r>
            <a:endParaRPr lang="en-US" sz="1150" dirty="0"/>
          </a:p>
        </p:txBody>
      </p:sp>
      <p:sp>
        <p:nvSpPr>
          <p:cNvPr id="35" name="Text 26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3A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毎朝の「エゴサーチ＆転記」から、担当者を解放します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D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タレント実績管理・プロフィール作成ツール ご提案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D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FEATURE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営業先に合わせて、話しかけるだけで最適化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394960" cy="1371600"/>
          </a:xfrm>
          <a:prstGeom prst="roundRect">
            <a:avLst>
              <a:gd name="adj" fmla="val 10667"/>
            </a:avLst>
          </a:prstGeom>
          <a:solidFill>
            <a:srgbClr val="FDECF3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3" y="2114093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116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「飲料メーカーB社のCM案件向け。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競合他社のCM実績は非表示にして」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918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と入力するだけ。AIが実績ストック全体を読み、提案理由つきで返します。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4114800"/>
            <a:ext cx="457200" cy="45720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" y="4238244"/>
            <a:ext cx="210312" cy="2103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4096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競合バッティングを自動回避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43000" y="4480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球団案件なら他球団、飲料案件なら他社CMを推測して非表示候補に。理由も明示します。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2920" y="5166360"/>
            <a:ext cx="457200" cy="45720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5289804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5148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最終判断はいつも人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43000" y="55321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AIは提案まで。反映→保存の二段階で、実績の文面が書き換わることはありません。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00800" y="1783080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FBF7F9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675120" y="1965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3A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AIの提案（例）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629400" y="2331720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F0D5E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784848" y="2423160"/>
            <a:ext cx="44897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提案の方針: B社の競合にあたる飲料CM 2件を非表示にし、食品・音楽番組の実績を上位に並べました。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629400" y="3246120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F0E1E9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66560" y="3346704"/>
            <a:ext cx="658368" cy="256032"/>
          </a:xfrm>
          <a:prstGeom prst="roundRect">
            <a:avLst>
              <a:gd name="adj" fmla="val 35714"/>
            </a:avLst>
          </a:prstGeom>
          <a:solidFill>
            <a:srgbClr val="E8558B"/>
          </a:solidFill>
          <a:ln/>
        </p:spPr>
      </p:sp>
      <p:sp>
        <p:nvSpPr>
          <p:cNvPr id="23" name="Text 18"/>
          <p:cNvSpPr/>
          <p:nvPr/>
        </p:nvSpPr>
        <p:spPr>
          <a:xfrm>
            <a:off x="6766560" y="33284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強調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543800" y="331927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3A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 音楽番組『◯◯◯』出演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629400" y="3794760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F0E1E9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766560" y="3895344"/>
            <a:ext cx="658368" cy="256032"/>
          </a:xfrm>
          <a:prstGeom prst="roundRect">
            <a:avLst>
              <a:gd name="adj" fmla="val 35714"/>
            </a:avLst>
          </a:prstGeom>
          <a:solidFill>
            <a:srgbClr val="E9A5C3"/>
          </a:solidFill>
          <a:ln/>
        </p:spPr>
      </p:sp>
      <p:sp>
        <p:nvSpPr>
          <p:cNvPr id="27" name="Text 22"/>
          <p:cNvSpPr/>
          <p:nvPr/>
        </p:nvSpPr>
        <p:spPr>
          <a:xfrm>
            <a:off x="6766560" y="38770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7543800" y="386791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 春公演『◯◯◯』千秋楽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629400" y="4343400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F0E1E9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766560" y="4443984"/>
            <a:ext cx="658368" cy="256032"/>
          </a:xfrm>
          <a:prstGeom prst="roundRect">
            <a:avLst>
              <a:gd name="adj" fmla="val 35714"/>
            </a:avLst>
          </a:prstGeom>
          <a:solidFill>
            <a:srgbClr val="E9A5C3"/>
          </a:solidFill>
          <a:ln/>
        </p:spPr>
      </p:sp>
      <p:sp>
        <p:nvSpPr>
          <p:cNvPr id="31" name="Text 26"/>
          <p:cNvSpPr/>
          <p:nvPr/>
        </p:nvSpPr>
        <p:spPr>
          <a:xfrm>
            <a:off x="6766560" y="442569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7543800" y="441655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 食品メーカーC社 WebCM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629400" y="4892040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F0E1E9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766560" y="4992624"/>
            <a:ext cx="658368" cy="256032"/>
          </a:xfrm>
          <a:prstGeom prst="roundRect">
            <a:avLst>
              <a:gd name="adj" fmla="val 35714"/>
            </a:avLst>
          </a:prstGeom>
          <a:solidFill>
            <a:srgbClr val="D8DBE0"/>
          </a:solidFill>
          <a:ln/>
        </p:spPr>
      </p:sp>
      <p:sp>
        <p:nvSpPr>
          <p:cNvPr id="35" name="Text 30"/>
          <p:cNvSpPr/>
          <p:nvPr/>
        </p:nvSpPr>
        <p:spPr>
          <a:xfrm>
            <a:off x="6766560" y="49743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非表示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7543800" y="496519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A6AA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 飲料メーカーA社 CM（競合）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629400" y="5440680"/>
            <a:ext cx="48006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F0E1E9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6766560" y="5541264"/>
            <a:ext cx="658368" cy="256032"/>
          </a:xfrm>
          <a:prstGeom prst="roundRect">
            <a:avLst>
              <a:gd name="adj" fmla="val 35714"/>
            </a:avLst>
          </a:prstGeom>
          <a:solidFill>
            <a:srgbClr val="D8DBE0"/>
          </a:solidFill>
          <a:ln/>
        </p:spPr>
      </p:sp>
      <p:sp>
        <p:nvSpPr>
          <p:cNvPr id="39" name="Text 34"/>
          <p:cNvSpPr/>
          <p:nvPr/>
        </p:nvSpPr>
        <p:spPr>
          <a:xfrm>
            <a:off x="6766560" y="552297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非表示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7543800" y="5513832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trike="sngStrike" dirty="0">
                <a:solidFill>
                  <a:srgbClr val="A6AA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2024 飲料D社 イベント（競合）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D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タレント実績管理・プロフィール作成ツール ご提案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D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FEATURE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グループの世界観そのままに、A4宣材をPDF出力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57200" cy="45720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" y="1906524"/>
            <a:ext cx="210312" cy="2103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6479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ロゴ・カラーはグループ共通で統一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143000" y="214884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事務所ロゴ・連絡先はフッターに自動配置。1か所直せば全メンバーに反映されます。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880360"/>
            <a:ext cx="457200" cy="45720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" y="3003804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8620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レイアウトはドラッグで自由に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143000" y="324612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PowerPoint感覚で要素を動かすだけ。データと切り離されているので、崩れは起きません。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3977640"/>
            <a:ext cx="457200" cy="45720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4101084"/>
            <a:ext cx="210312" cy="210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9593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写真の差し替えはワンクリック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143000" y="434340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新しいアー写を選ぶだけ。枠に自動フィットし、位置調整もスライダーで完結。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02920" y="5074920"/>
            <a:ext cx="457200" cy="45720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" y="5198364"/>
            <a:ext cx="210312" cy="2103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505663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そのままPDF・印刷へ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143000" y="5440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A4宣材を1人数分で出力。複数メンバーの一括出力にも対応します。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909560" y="1645920"/>
            <a:ext cx="31089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EB"/>
            </a:solidFill>
            <a:prstDash val="solid"/>
          </a:ln>
          <a:effectLst>
            <a:outerShdw sx="100000" sy="100000" kx="0" ky="0" algn="bl" rotWithShape="0" blurRad="127000" dist="38100" dir="5400000">
              <a:srgbClr val="D9A9C1">
                <a:alpha val="4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80924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◯◯ ◯◯◯  Member Name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8183880" y="2148840"/>
            <a:ext cx="256032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809244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2005年◯月◯日  158cm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8183880" y="2560320"/>
            <a:ext cx="1188720" cy="1600200"/>
          </a:xfrm>
          <a:prstGeom prst="rect">
            <a:avLst/>
          </a:prstGeom>
          <a:solidFill>
            <a:srgbClr val="FDECF3"/>
          </a:solidFill>
          <a:ln/>
        </p:spPr>
      </p:sp>
      <p:sp>
        <p:nvSpPr>
          <p:cNvPr id="25" name="Shape 19"/>
          <p:cNvSpPr/>
          <p:nvPr/>
        </p:nvSpPr>
        <p:spPr>
          <a:xfrm>
            <a:off x="9537192" y="2560320"/>
            <a:ext cx="1188720" cy="1600200"/>
          </a:xfrm>
          <a:prstGeom prst="rect">
            <a:avLst/>
          </a:prstGeom>
          <a:solidFill>
            <a:srgbClr val="FDECF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3108960"/>
            <a:ext cx="320040" cy="320040"/>
          </a:xfrm>
          <a:prstGeom prst="rect">
            <a:avLst/>
          </a:prstGeom>
        </p:spPr>
      </p:pic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5248" y="310896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183880" y="4343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【公演】</a:t>
            </a:r>
            <a:endParaRPr lang="en-US" sz="850" dirty="0"/>
          </a:p>
        </p:txBody>
      </p:sp>
      <p:sp>
        <p:nvSpPr>
          <p:cNvPr id="29" name="Text 21"/>
          <p:cNvSpPr/>
          <p:nvPr/>
        </p:nvSpPr>
        <p:spPr>
          <a:xfrm>
            <a:off x="8183880" y="45537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3A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 春公演『◯◯◯』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8183880" y="47548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 劇場公演 千秋楽</a:t>
            </a:r>
            <a:endParaRPr lang="en-US" sz="800" dirty="0"/>
          </a:p>
        </p:txBody>
      </p:sp>
      <p:sp>
        <p:nvSpPr>
          <p:cNvPr id="31" name="Text 23"/>
          <p:cNvSpPr/>
          <p:nvPr/>
        </p:nvSpPr>
        <p:spPr>
          <a:xfrm>
            <a:off x="8183880" y="5029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【TV・CM】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8183880" y="52395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 音楽番組『◯◯◯』</a:t>
            </a:r>
            <a:endParaRPr lang="en-US" sz="800" dirty="0"/>
          </a:p>
        </p:txBody>
      </p:sp>
      <p:sp>
        <p:nvSpPr>
          <p:cNvPr id="33" name="Text 25"/>
          <p:cNvSpPr/>
          <p:nvPr/>
        </p:nvSpPr>
        <p:spPr>
          <a:xfrm>
            <a:off x="8183880" y="54406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 食品メーカーC社 WebCM</a:t>
            </a:r>
            <a:endParaRPr lang="en-US" sz="800" dirty="0"/>
          </a:p>
        </p:txBody>
      </p:sp>
      <p:sp>
        <p:nvSpPr>
          <p:cNvPr id="34" name="Shape 26"/>
          <p:cNvSpPr/>
          <p:nvPr/>
        </p:nvSpPr>
        <p:spPr>
          <a:xfrm>
            <a:off x="8183880" y="5669280"/>
            <a:ext cx="2560320" cy="0"/>
          </a:xfrm>
          <a:prstGeom prst="line">
            <a:avLst/>
          </a:prstGeom>
          <a:noFill/>
          <a:ln w="12700">
            <a:solidFill>
              <a:srgbClr val="C9CDD3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8183880" y="5779008"/>
            <a:ext cx="219456" cy="219456"/>
          </a:xfrm>
          <a:prstGeom prst="ellipse">
            <a:avLst/>
          </a:prstGeom>
          <a:solidFill>
            <a:srgbClr val="E8558B"/>
          </a:solidFill>
          <a:ln/>
        </p:spPr>
      </p:sp>
      <p:sp>
        <p:nvSpPr>
          <p:cNvPr id="36" name="Text 28"/>
          <p:cNvSpPr/>
          <p:nvPr/>
        </p:nvSpPr>
        <p:spPr>
          <a:xfrm>
            <a:off x="8476488" y="5742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◯◯プロダクション  03-XXXX-XXXX  info@…</a:t>
            </a:r>
            <a:endParaRPr lang="en-US" sz="750" dirty="0"/>
          </a:p>
        </p:txBody>
      </p:sp>
      <p:sp>
        <p:nvSpPr>
          <p:cNvPr id="37" name="Text 29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D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タレント実績管理・プロフィール作成ツール ご提案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D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メンバー80名規模での効果試算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657600" cy="3017520"/>
          </a:xfrm>
          <a:prstGeom prst="roundRect">
            <a:avLst>
              <a:gd name="adj" fmla="val 4242"/>
            </a:avLst>
          </a:prstGeom>
          <a:solidFill>
            <a:srgbClr val="FBF7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3A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新規作成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trike="sngStrike" dirty="0">
                <a:solidFill>
                  <a:srgbClr val="A6AA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2時間</a:t>
            </a:r>
            <a:pPr algn="ctr" indent="0" marL="0">
              <a:buNone/>
            </a:pPr>
            <a:r>
              <a:rPr lang="en-US" sz="16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→ </a:t>
            </a:r>
            <a:pPr algn="ctr" indent="0" marL="0">
              <a:buNone/>
            </a:pPr>
            <a:r>
              <a:rPr lang="en-US" sz="4400" b="1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1人あたりの宣材づくり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657600" cy="3017520"/>
          </a:xfrm>
          <a:prstGeom prst="roundRect">
            <a:avLst>
              <a:gd name="adj" fmla="val 4242"/>
            </a:avLst>
          </a:prstGeom>
          <a:solidFill>
            <a:srgbClr val="FBF7F9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3A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更新作業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7432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trike="sngStrike" dirty="0">
                <a:solidFill>
                  <a:srgbClr val="A6AA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30分</a:t>
            </a:r>
            <a:pPr algn="ctr" indent="0" marL="0">
              <a:buNone/>
            </a:pPr>
            <a:r>
              <a:rPr lang="en-US" sz="16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→ </a:t>
            </a:r>
            <a:pPr algn="ctr" indent="0" marL="0">
              <a:buNone/>
            </a:pPr>
            <a:r>
              <a:rPr lang="en-US" sz="4400" b="1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5分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0916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経歴追記・写真差し替え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66760" y="1828800"/>
            <a:ext cx="3657600" cy="3017520"/>
          </a:xfrm>
          <a:prstGeom prst="roundRect">
            <a:avLst>
              <a:gd name="adj" fmla="val 4242"/>
            </a:avLst>
          </a:prstGeom>
          <a:solidFill>
            <a:srgbClr val="FDECF3"/>
          </a:solidFill>
          <a:ln/>
        </p:spPr>
      </p:sp>
      <p:sp>
        <p:nvSpPr>
          <p:cNvPr id="13" name="Text 11"/>
          <p:cNvSpPr/>
          <p:nvPr/>
        </p:nvSpPr>
        <p:spPr>
          <a:xfrm>
            <a:off x="8641080" y="2103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3A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年間の更新工数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03920" y="274320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strike="sngStrike" dirty="0">
                <a:solidFill>
                  <a:srgbClr val="A6AA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160時間</a:t>
            </a:r>
            <a:pPr algn="ctr" indent="0" marL="0">
              <a:buNone/>
            </a:pPr>
            <a:r>
              <a:rPr lang="en-US" sz="16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→ </a:t>
            </a:r>
            <a:pPr algn="ctr" indent="0" marL="0">
              <a:buNone/>
            </a:pPr>
            <a:r>
              <a:rPr lang="en-US" sz="3400" b="1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27時間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4108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80名 × 年4回更新の場合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166360"/>
            <a:ext cx="111556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3492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浮いた時間 年間130時間超 </a:t>
            </a:r>
            <a:pPr indent="0" marL="0">
              <a:buNone/>
            </a:pPr>
            <a:r>
              <a:rPr lang="en-US" sz="1400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をメンバーのプロモーションや営業活動そのものに。※導入時に現行運用をヒアリングし個別に試算します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D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タレント実績管理・プロフィール作成ツール ご提案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D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SECURITY &amp;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安心して使える設計と、無理のない導入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5120640" cy="4206240"/>
          </a:xfrm>
          <a:prstGeom prst="roundRect">
            <a:avLst>
              <a:gd name="adj" fmla="val 3043"/>
            </a:avLst>
          </a:prstGeom>
          <a:solidFill>
            <a:srgbClr val="FBF7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62" y="218450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214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メンバーの情報を守る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98648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834640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データは事務所の管理下に保存（外部の共有サーバーに置かない構成から開始）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48456"/>
            <a:ext cx="310896" cy="3108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584448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写真・個人情報へのアクセスは認証で保護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98264"/>
            <a:ext cx="310896" cy="3108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80160" y="4334256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AIは「提案」だけ。公開・確定は必ず担当者の承認を経由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148072"/>
            <a:ext cx="310896" cy="3108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80160" y="5084064"/>
            <a:ext cx="4160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ワンクリックでバックアップ、削除要求にも完全対応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5989320" y="1737360"/>
            <a:ext cx="56692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  <a:effectLst>
            <a:outerShdw sx="100000" sy="100000" kx="0" ky="0" algn="bl" rotWithShape="0" blurRad="88900" dist="25400" dir="5400000">
              <a:srgbClr val="E8B7CC">
                <a:alpha val="30000"/>
              </a:srgbClr>
            </a:outerShdw>
          </a:effectLst>
        </p:spPr>
      </p:sp>
      <p:sp>
        <p:nvSpPr>
          <p:cNvPr id="17" name="Shape 10"/>
          <p:cNvSpPr/>
          <p:nvPr/>
        </p:nvSpPr>
        <p:spPr>
          <a:xfrm>
            <a:off x="6217920" y="2121408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E8558B"/>
          </a:solidFill>
          <a:ln/>
        </p:spPr>
      </p:sp>
      <p:sp>
        <p:nvSpPr>
          <p:cNvPr id="18" name="Text 11"/>
          <p:cNvSpPr/>
          <p:nvPr/>
        </p:nvSpPr>
        <p:spPr>
          <a:xfrm>
            <a:off x="6217920" y="212140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</a:t>
            </a:r>
            <a:endParaRPr lang="en-US" sz="1100" dirty="0"/>
          </a:p>
        </p:txBody>
      </p:sp>
      <p:sp>
        <p:nvSpPr>
          <p:cNvPr id="19" name="Text 12"/>
          <p:cNvSpPr/>
          <p:nvPr/>
        </p:nvSpPr>
        <p:spPr>
          <a:xfrm>
            <a:off x="7315200" y="1901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トライアル（2週間）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7315200" y="230428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選抜メンバー10名分で操作感と仕上がりをご確認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989320" y="3200400"/>
            <a:ext cx="56692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  <a:effectLst>
            <a:outerShdw sx="100000" sy="100000" kx="0" ky="0" algn="bl" rotWithShape="0" blurRad="88900" dist="25400" dir="5400000">
              <a:srgbClr val="E8B7CC">
                <a:alpha val="3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6217920" y="3584448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E8558B"/>
          </a:solidFill>
          <a:ln/>
        </p:spPr>
      </p:sp>
      <p:sp>
        <p:nvSpPr>
          <p:cNvPr id="23" name="Text 16"/>
          <p:cNvSpPr/>
          <p:nvPr/>
        </p:nvSpPr>
        <p:spPr>
          <a:xfrm>
            <a:off x="6217920" y="358444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315200" y="33649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データ移行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7315200" y="376732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既存プロフィールをAIが一括変換。全メンバーの実績DBを構築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989320" y="4663440"/>
            <a:ext cx="56692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  <a:effectLst>
            <a:outerShdw sx="100000" sy="100000" kx="0" ky="0" algn="bl" rotWithShape="0" blurRad="88900" dist="25400" dir="5400000">
              <a:srgbClr val="E8B7CC">
                <a:alpha val="3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217920" y="5047488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E8558B"/>
          </a:solidFill>
          <a:ln/>
        </p:spPr>
      </p:sp>
      <p:sp>
        <p:nvSpPr>
          <p:cNvPr id="28" name="Text 21"/>
          <p:cNvSpPr/>
          <p:nvPr/>
        </p:nvSpPr>
        <p:spPr>
          <a:xfrm>
            <a:off x="6217920" y="5047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7315200" y="48280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全体展開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7315200" y="523036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運用ルールを整えて全メンバーへ。Web自動収集も本稼働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BD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タレント実績管理・プロフィール作成ツール ご提案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DC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-2103120"/>
            <a:ext cx="5486400" cy="5486400"/>
          </a:xfrm>
          <a:prstGeom prst="ellipse">
            <a:avLst/>
          </a:prstGeom>
          <a:solidFill>
            <a:srgbClr val="FDECF3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4023360"/>
            <a:ext cx="3840480" cy="3840480"/>
          </a:xfrm>
          <a:prstGeom prst="ellipse">
            <a:avLst/>
          </a:prstGeom>
          <a:solidFill>
            <a:srgbClr val="FDECF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558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推しの魅力を伝える時間を、もっと。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352044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E8B7CC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651760"/>
            <a:ext cx="685800" cy="68580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566" y="2836926"/>
            <a:ext cx="315468" cy="3154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27614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実績は自動で貯まる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60120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Webのお知らせ・SNSからAIが収集。転記作業をなくします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2377440"/>
            <a:ext cx="352044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E8B7CC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2651760"/>
            <a:ext cx="685800" cy="68580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606" y="2836926"/>
            <a:ext cx="315468" cy="3154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27614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営業先ごとに最適化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709160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話しかけるだけで選抜・並べ替え。競合案件は自動回避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2377440"/>
            <a:ext cx="352044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F0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E8B7CC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0" y="2651760"/>
            <a:ext cx="685800" cy="685800"/>
          </a:xfrm>
          <a:prstGeom prst="ellipse">
            <a:avLst/>
          </a:prstGeom>
          <a:solidFill>
            <a:srgbClr val="E8558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7646" y="2836926"/>
            <a:ext cx="315468" cy="3154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81160" y="27614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3333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今日から小さく始める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458200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まずは選抜メンバー10名・2週間の無料トライアルから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40080" y="5120640"/>
            <a:ext cx="10972800" cy="1005840"/>
          </a:xfrm>
          <a:prstGeom prst="roundRect">
            <a:avLst>
              <a:gd name="adj" fmla="val 14545"/>
            </a:avLst>
          </a:prstGeom>
          <a:solidFill>
            <a:srgbClr val="E8558B"/>
          </a:solidFill>
          <a:ln/>
        </p:spPr>
      </p:sp>
      <p:sp>
        <p:nvSpPr>
          <p:cNvPr id="22" name="Text 17"/>
          <p:cNvSpPr/>
          <p:nvPr/>
        </p:nvSpPr>
        <p:spPr>
          <a:xfrm>
            <a:off x="1005840" y="53492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次のステップ：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30分のデモ → トライアル対象メンバーのご選定 → 2週間後に効果をご確認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67B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お問い合わせ: ◯◯◯◯（ご提案担当）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2026-07-30T03:24:49Z</dcterms:created>
  <dcterms:modified xsi:type="dcterms:W3CDTF">2026-07-30T03:24:49Z</dcterms:modified>
</cp:coreProperties>
</file>